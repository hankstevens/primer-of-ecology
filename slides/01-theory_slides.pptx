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Metabolic rate vs. body mass (log-spaced)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= M^0.75</c:v>
                </c:pt>
              </c:strCache>
            </c:strRef>
          </c:tx>
          <c:spPr>
            <a:solidFill>
              <a:srgbClr val="2C5F2D"/>
            </a:solidFill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5F2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0.01</c:v>
                  </c:pt>
                  <c:pt idx="1">
                    <c:v>0.1</c:v>
                  </c:pt>
                  <c:pt idx="2">
                    <c:v>1</c:v>
                  </c:pt>
                  <c:pt idx="3">
                    <c:v>10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0.03162277660168379</c:v>
                </c:pt>
                <c:pt idx="1">
                  <c:v>0.1778279410038923</c:v>
                </c:pt>
                <c:pt idx="2">
                  <c:v>1</c:v>
                </c:pt>
                <c:pt idx="3">
                  <c:v>5.623413251903491</c:v>
                </c:pt>
                <c:pt idx="4">
                  <c:v>31.622776601683793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5F2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Body mass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Metabolic rate (B)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Mass-specific rate declines with size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B/M = M^-0.25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0.1</c:v>
                  </c:pt>
                  <c:pt idx="1">
                    <c:v>1</c:v>
                  </c:pt>
                  <c:pt idx="2">
                    <c:v>10</c:v>
                  </c:pt>
                  <c:pt idx="3">
                    <c:v>100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1.7782794100389228</c:v>
                </c:pt>
                <c:pt idx="1">
                  <c:v>1</c:v>
                </c:pt>
                <c:pt idx="2">
                  <c:v>0.5623413251903491</c:v>
                </c:pt>
                <c:pt idx="3">
                  <c:v>0.31622776601683794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Mass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B / 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5F2D"/>
                </a:solidFill>
                <a:latin typeface="Arial"/>
              </a:rPr>
              <a:t>Metabolic rate rises with temperature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Arrhenius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276</c:v>
                  </c:pt>
                  <c:pt idx="1">
                    <c:v>286</c:v>
                  </c:pt>
                  <c:pt idx="2">
                    <c:v>296</c:v>
                  </c:pt>
                  <c:pt idx="3">
                    <c:v>306</c:v>
                  </c:pt>
                  <c:pt idx="4">
                    <c:v>316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0.6190420300744138</c:v>
                </c:pt>
                <c:pt idx="1">
                  <c:v>0.8686859336158628</c:v>
                </c:pt>
                <c:pt idx="2">
                  <c:v>1.1914158422433079</c:v>
                </c:pt>
                <c:pt idx="3">
                  <c:v>1.600650791790979</c:v>
                </c:pt>
                <c:pt idx="4">
                  <c:v>2.1106381811045396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Temperature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Metabolic rate (B)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C5F2D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C5F2D"/>
                </a:solidFill>
                <a:latin typeface="Arial"/>
              </a:rPr>
              <a:t>Expected rank-abundance distribution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abundance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B8504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(most abundant)</c:v>
                  </c:pt>
                  <c:pt idx="1">
                    <c:v>2</c:v>
                  </c:pt>
                  <c:pt idx="2">
                    <c:v>3 (least abundant)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1.5</c:v>
                </c:pt>
                <c:pt idx="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B8504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Species rank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Expected abundance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2560320" cy="2560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486400"/>
            <a:ext cx="1463040" cy="1463040"/>
          </a:xfrm>
          <a:prstGeom prst="ellipse">
            <a:avLst/>
          </a:prstGeom>
          <a:solidFill>
            <a:srgbClr val="E3ED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in Ecology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theory does, and two worked examples: the Metabolic Theory of Ecology and the Maximum Entropy Theory of Ecology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Hank Stevens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Theory Matters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“Without theory of some sort to guide us, we are merely counting pebbles in a quarry.”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theory — conceptual or mathematical — focuses our thinking on a system without ambiguity.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book explores mathematical models: specific, testable manifestations of broader ecological theory.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Theory, natural history, and data are mutually dependent — progress in ecology requires all three, feeding back on one another.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 flipV="1">
            <a:off x="7680960" y="1463040"/>
            <a:ext cx="1828800" cy="210312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0" y="1463040"/>
            <a:ext cx="1828800" cy="210312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3566160"/>
            <a:ext cx="3657600" cy="9144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14032" y="3108960"/>
            <a:ext cx="1133856" cy="9144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14032" y="31089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1005840"/>
            <a:ext cx="1133856" cy="9144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42832" y="100584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771632" y="3108960"/>
            <a:ext cx="1133856" cy="9144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71632" y="31089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informs and constrains the other two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Scientific Theory?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E3ED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4300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theory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103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A body of knowledge providing an organized, mechanistic view of how the world works </a:t>
            </a:r>
            <a:pPr indent="0" marL="0">
              <a:buNone/>
            </a:pPr>
            <a:r>
              <a:rPr lang="en-US" sz="1200" i="1" dirty="0">
                <a:solidFill>
                  <a:srgbClr val="6B7568"/>
                </a:solidFill>
              </a:rPr>
              <a:t>(Scheiner 2010).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0632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Gravity, general relativity, evolution by natural selection: structured ways of connecting observation, pattern, and process.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is tested repeatedly by experiments and new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Colloquial “just a theory”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148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301F"/>
                </a:solidFill>
              </a:rPr>
              <a:t>“Oh, that’s just a theory” — implies a guess without much evidence.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2004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in stark contrast to scientific usage.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theory is not a guess — it is repeatedly tested knowledge.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 Theory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An early, persistent organizing schema (</a:t>
            </a:r>
            <a:pPr indent="0" marL="0">
              <a:buNone/>
            </a:pPr>
            <a:r>
              <a:rPr lang="en-US" sz="1200" i="1" dirty="0">
                <a:solidFill>
                  <a:srgbClr val="6B7568"/>
                </a:solidFill>
              </a:rPr>
              <a:t>Oneill 1986; Rose et al. 2017</a:t>
            </a:r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): ecological systems are structured hierarchically — each entity comprises subunits, and gives rise to emergent properties above it.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260604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&amp; tissues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26060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56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96312" y="26060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97BC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96312" y="260604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systems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187952" y="26060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56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52544" y="26060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52544" y="260604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044184" y="26060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56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8776" y="26060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97BC6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08776" y="260604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Sub-populations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900416" y="26060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56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65008" y="26060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65008" y="260604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756648" y="260604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56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921240" y="26060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97BC6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921240" y="260604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Example: </a:t>
            </a:r>
            <a:pPr indent="0" marL="0">
              <a:buNone/>
            </a:pPr>
            <a:r>
              <a:rPr lang="en-US" sz="1400" dirty="0">
                <a:solidFill>
                  <a:srgbClr val="23301F"/>
                </a:solidFill>
              </a:rPr>
              <a:t>a population of big bluestem grass (</a:t>
            </a:r>
            <a:pPr indent="0" marL="0">
              <a:buNone/>
            </a:pPr>
            <a:r>
              <a:rPr lang="en-US" sz="1400" i="1" dirty="0">
                <a:solidFill>
                  <a:srgbClr val="23301F"/>
                </a:solidFill>
              </a:rPr>
              <a:t>Andropogon gerardii</a:t>
            </a:r>
            <a:pPr indent="0" marL="0">
              <a:buNone/>
            </a:pPr>
            <a:r>
              <a:rPr lang="en-US" sz="1400" dirty="0">
                <a:solidFill>
                  <a:srgbClr val="23301F"/>
                </a:solidFill>
              </a:rPr>
              <a:t>) is part of a larger community; it comprises sub-populations, individuals, ramets, organ systems, and cell types.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shapes processes below it and produces emergent properties above it — as an organizing principle, this structures nearly all of the ecology curriculum.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 Theory: The Right Currency Depends on the Question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Hierarchies get complicated once levels mix fundamentally different entities — biotic </a:t>
            </a:r>
            <a:pPr indent="0" marL="0">
              <a:buNone/>
            </a:pPr>
            <a:r>
              <a:rPr lang="en-US" sz="1450" i="1" dirty="0">
                <a:solidFill>
                  <a:srgbClr val="23301F"/>
                </a:solidFill>
              </a:rPr>
              <a:t>and</a:t>
            </a:r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 abiotic (nutrients, water, light, spatial arrangement). And a single organism can play different roles in different hierarchies.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27889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question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383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EDD9"/>
                </a:solidFill>
              </a:rPr>
              <a:t>Count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individuals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0690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fitness is tracked by the number of independent reproductive units.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51460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B8504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27889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 question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383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DCD6"/>
                </a:solidFill>
              </a:rPr>
              <a:t>Weigh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biomass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0690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is more closely tied to resource uptake than raw counts of individuals.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bunch-grass individual, two different currencies — chosen by the question being asked.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General Theory of Ecology (Scheiner &amp; Willig 2011)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1F"/>
                </a:solidFill>
              </a:rPr>
              <a:t>Theories sit within a hierarchy of disciplinary knowledge, explaining phenomena within a </a:t>
            </a:r>
            <a:pPr indent="0" marL="0">
              <a:buNone/>
            </a:pPr>
            <a:r>
              <a:rPr lang="en-US" sz="1400" b="1" i="1" dirty="0">
                <a:solidFill>
                  <a:srgbClr val="2C5F2D"/>
                </a:solidFill>
              </a:rPr>
              <a:t>domain</a:t>
            </a:r>
            <a:pPr indent="0" marL="0">
              <a:buNone/>
            </a:pPr>
            <a:r>
              <a:rPr lang="en-US" sz="1400" dirty="0">
                <a:solidFill>
                  <a:srgbClr val="23301F"/>
                </a:solidFill>
              </a:rPr>
              <a:t>, organized around </a:t>
            </a:r>
            <a:pPr indent="0" marL="0">
              <a:buNone/>
            </a:pPr>
            <a:r>
              <a:rPr lang="en-US" sz="1400" b="1" i="1" dirty="0">
                <a:solidFill>
                  <a:srgbClr val="2C5F2D"/>
                </a:solidFill>
              </a:rPr>
              <a:t>principles</a:t>
            </a:r>
            <a:pPr indent="0" marL="0">
              <a:buNone/>
            </a:pPr>
            <a:r>
              <a:rPr lang="en-US" sz="1400" dirty="0">
                <a:solidFill>
                  <a:srgbClr val="23301F"/>
                </a:solidFill>
              </a:rPr>
              <a:t> and assumptions.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E3ED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1874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Domain:  </a:t>
            </a:r>
            <a:pPr indent="0" marL="0">
              <a:buNone/>
            </a:pPr>
            <a:r>
              <a:rPr lang="en-US" sz="1400" i="1" dirty="0">
                <a:solidFill>
                  <a:srgbClr val="23301F"/>
                </a:solidFill>
              </a:rPr>
              <a:t>The spatial and temporal pattern of the distribution and abundance of organisms, including causes and consequences.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Organisms are distributed in space and time in a heterogeneous manner.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Organisms interact with their abiotic and biotic environments.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Variation among organisms yields heterogeneity of ecological patterns and processes.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Distributions and interactions depend on historical contingencies.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880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Environmental conditions, as perceived by organisms, are heterogeneous in space and time.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Resources, as perceived by organisms, are finite and heterogeneous in space and time.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Birth and death rates result from interactions with the abiotic and biotic environment.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The ecological properties of species are the result of evolution.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General Theory of Ecology: An Alternative Formulation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3EDD9"/>
                </a:solidFill>
              </a:rPr>
              <a:t>Domain:  </a:t>
            </a:r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</a:rPr>
              <a:t>The house of life — its constituent entities, causes, and consequences.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“ecology” derives from the Greek oikos, “the rules of the house”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Entities are open systems with inputs and outputs.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Entities have internal complexity.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Entities include self-replicating components (living elements).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Entities interact via inputs, outputs, and behavior.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Rates of change — including inputs and outputs — are influenced directly by physical factors: space, temperature, and concentration.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may be an ecosystem, community, population, individual, or any other system with operationally defined boundaries.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Theory “Efficient”?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568"/>
                </a:solidFill>
              </a:rPr>
              <a:t>Marquet et al. (2014)</a:t>
            </a:r>
            <a:pPr indent="0" marL="0">
              <a:buNone/>
            </a:pPr>
            <a:r>
              <a:rPr lang="en-US" sz="1500" dirty="0">
                <a:solidFill>
                  <a:srgbClr val="23301F"/>
                </a:solidFill>
              </a:rPr>
              <a:t> argue the best theories are </a:t>
            </a:r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</a:rPr>
              <a:t>efficient</a:t>
            </a:r>
            <a:pPr indent="0" marL="0">
              <a:buNone/>
            </a:pPr>
            <a:r>
              <a:rPr lang="en-US" sz="1500" dirty="0">
                <a:solidFill>
                  <a:srgbClr val="23301F"/>
                </a:solidFill>
              </a:rPr>
              <a:t>: three criteria.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3364992" cy="3794760"/>
          </a:xfrm>
          <a:prstGeom prst="roundRect">
            <a:avLst>
              <a:gd name="adj" fmla="val 3261"/>
            </a:avLst>
          </a:prstGeom>
          <a:solidFill>
            <a:srgbClr val="E3EDD9"/>
          </a:solidFill>
          <a:ln/>
        </p:spPr>
      </p:sp>
      <p:sp>
        <p:nvSpPr>
          <p:cNvPr id="7" name="Shape 4"/>
          <p:cNvSpPr/>
          <p:nvPr/>
        </p:nvSpPr>
        <p:spPr>
          <a:xfrm>
            <a:off x="2139696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3969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2461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principles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931920"/>
            <a:ext cx="28163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fundamental, well-established observations and laws — e.g., the laws of thermodynamics, the central limit theorem.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43984" y="1965960"/>
            <a:ext cx="3364992" cy="3794760"/>
          </a:xfrm>
          <a:prstGeom prst="roundRect">
            <a:avLst>
              <a:gd name="adj" fmla="val 3261"/>
            </a:avLst>
          </a:prstGeom>
          <a:solidFill>
            <a:srgbClr val="2C5F2D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2860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607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672584" y="32461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Expressed in mathematics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718304" y="3931920"/>
            <a:ext cx="28163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universal, unambiguous language that forces clarity about exactly what the theory claims.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364992" cy="3794760"/>
          </a:xfrm>
          <a:prstGeom prst="roundRect">
            <a:avLst>
              <a:gd name="adj" fmla="val 3261"/>
            </a:avLst>
          </a:prstGeom>
          <a:solidFill>
            <a:srgbClr val="E3EDD9"/>
          </a:solidFill>
          <a:ln/>
        </p:spPr>
      </p:sp>
      <p:sp>
        <p:nvSpPr>
          <p:cNvPr id="17" name="Shape 14"/>
          <p:cNvSpPr/>
          <p:nvPr/>
        </p:nvSpPr>
        <p:spPr>
          <a:xfrm>
            <a:off x="9381744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817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8293608" y="32461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predictions, few parameters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3931920"/>
            <a:ext cx="28163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number of testable predictions from a small number of free parameters.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</a:rPr>
              <a:t>Ahead: </a:t>
            </a:r>
            <a:pPr indent="0" marL="0">
              <a:buNone/>
            </a:pPr>
            <a:r>
              <a:rPr lang="en-US" sz="1350" i="1" dirty="0">
                <a:solidFill>
                  <a:srgbClr val="6B7568"/>
                </a:solidFill>
              </a:rPr>
              <a:t>two worked examples of efficient theory — the Metabolic Theory of Ecology and the Maximum Entropy Theory of Ecology.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120640"/>
            <a:ext cx="3108960" cy="3108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6035040"/>
            <a:ext cx="1828800" cy="1828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icon_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46908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Metabolic Theory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Ecology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body size and temperature govern metabolic rate — and, from there, nearly everything else.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Body-Size Dependence: Kleiber’s Law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Across species spanning many orders of magnitude in body mass, whole-organism resting metabolic rate scales as: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</a:rPr>
              <a:t>B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 = a</a:t>
            </a:r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</a:rPr>
              <a:t>M</a:t>
            </a:r>
            <a:pPr algn="ctr" indent="0" marL="0">
              <a:buNone/>
            </a:pPr>
            <a:r>
              <a:rPr lang="en-US" sz="2600" i="1" baseline="1750" dirty="0">
                <a:solidFill>
                  <a:srgbClr val="FFFFFF"/>
                </a:solidFill>
              </a:rPr>
              <a:t>z</a:t>
            </a:r>
            <a:pPr algn="ctr" indent="0" marL="0">
              <a:buNone/>
            </a:pPr>
            <a:r>
              <a:rPr lang="en-US" sz="1500" dirty="0">
                <a:solidFill>
                  <a:srgbClr val="E3EDD9"/>
                </a:solidFill>
              </a:rPr>
              <a:t>     (z = 3/4, quarter-power scaling)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basal metabolic rate
</a:t>
            </a:r>
            <a:pPr indent="0" marL="0">
              <a:lnSpc>
                <a:spcPts val="2200"/>
              </a:lnSpc>
              <a:buNone/>
            </a:pPr>
            <a:r>
              <a:rPr lang="en-US" sz="135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body mass
</a:t>
            </a:r>
            <a:pPr indent="0" marL="0">
              <a:lnSpc>
                <a:spcPts val="2200"/>
              </a:lnSpc>
              <a:buNone/>
            </a:pPr>
            <a:r>
              <a:rPr lang="en-US" sz="135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proportionality constant (taxon-specific)
</a:t>
            </a:r>
            <a:pPr indent="0" marL="0">
              <a:lnSpc>
                <a:spcPts val="2200"/>
              </a:lnSpc>
              <a:buNone/>
            </a:pPr>
            <a:r>
              <a:rPr lang="en-US" sz="135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power-law scaling coefficient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46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</a:rPr>
              <a:t>Logarithms linearize the relation: </a:t>
            </a:r>
            <a:pPr indent="0" marL="0">
              <a:buNone/>
            </a:pPr>
            <a:r>
              <a:rPr lang="en-US" sz="1350" b="1" i="1" dirty="0">
                <a:solidFill>
                  <a:srgbClr val="2C5F2D"/>
                </a:solidFill>
              </a:rPr>
              <a:t>log B = log a + z log M</a:t>
            </a:r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</a:rPr>
              <a:t> — our brains compare linear relations far more easily than curvilinear ones.</a:t>
            </a:r>
            <a:endParaRPr lang="en-US" sz="13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903720" y="137160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90372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log-spaced mass categories → the curve reads as the linearized, log–log relationship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Mass-Specific Metabolic Rate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“Mass-specific” = per gram: divide basal rate by mass, </a:t>
            </a:r>
            <a:pPr indent="0" marL="0">
              <a:buNone/>
            </a:pPr>
            <a:r>
              <a:rPr lang="en-US" sz="1450" b="1" i="1" dirty="0">
                <a:solidFill>
                  <a:srgbClr val="2C5F2D"/>
                </a:solidFill>
              </a:rPr>
              <a:t>B/M</a:t>
            </a:r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. This lets us ask: is a shrew’s cell burning fuel faster than an elephant’s?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B8504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3317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B/M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 = a</a:t>
            </a:r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M</a:t>
            </a:r>
            <a:pPr algn="ctr" indent="0" marL="0">
              <a:buNone/>
            </a:pPr>
            <a:r>
              <a:rPr lang="en-US" sz="2400" i="1" baseline="1750" dirty="0">
                <a:solidFill>
                  <a:srgbClr val="FFFFFF"/>
                </a:solidFill>
              </a:rPr>
              <a:t>z−1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 = a</a:t>
            </a:r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M</a:t>
            </a:r>
            <a:pPr algn="ctr" indent="0" marL="0">
              <a:buNone/>
            </a:pPr>
            <a:r>
              <a:rPr lang="en-US" sz="2400" i="1" baseline="1750" dirty="0">
                <a:solidFill>
                  <a:srgbClr val="FFFFFF"/>
                </a:solidFill>
              </a:rPr>
              <a:t>−1/4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C5F2D"/>
                </a:solidFill>
              </a:rPr>
              <a:t>Mass-specific metabolic rate declines with body mass raised to the negative one-quarter power.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</a:rPr>
              <a:t>Larger organisms process more resources overall (</a:t>
            </a:r>
            <a:pPr indent="0" marL="0">
              <a:buNone/>
            </a:pPr>
            <a:r>
              <a:rPr lang="en-US" sz="1350" b="1" i="1" dirty="0">
                <a:solidFill>
                  <a:srgbClr val="2C5F2D"/>
                </a:solidFill>
              </a:rPr>
              <a:t>B↑</a:t>
            </a:r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</a:rPr>
              <a:t>), but do so less efficiently per gram (</a:t>
            </a:r>
            <a:pPr indent="0" marL="0">
              <a:buNone/>
            </a:pPr>
            <a:r>
              <a:rPr lang="en-US" sz="1350" b="1" i="1" dirty="0">
                <a:solidFill>
                  <a:srgbClr val="B85042"/>
                </a:solidFill>
              </a:rPr>
              <a:t>B/M↓</a:t>
            </a:r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</a:rPr>
              <a:t>) — a cost of resources spending time in transit.</a:t>
            </a:r>
            <a:endParaRPr lang="en-US" sz="13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903720" y="137160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3/4 and Not 2/3? The Early Geometric Argument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Early reasoning: metabolic rate scales with heat-dissipating </a:t>
            </a:r>
            <a:pPr indent="0" marL="0">
              <a:buNone/>
            </a:pPr>
            <a:r>
              <a:rPr lang="en-US" sz="1450" b="1" i="1" dirty="0">
                <a:solidFill>
                  <a:srgbClr val="2C5F2D"/>
                </a:solidFill>
              </a:rPr>
              <a:t>surface area</a:t>
            </a:r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, not volume.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E3EDD9"/>
          </a:solidFill>
          <a:ln w="12700">
            <a:solidFill>
              <a:srgbClr val="E3ED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9659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scales with the cube of linear size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9659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∝ L³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83464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D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83464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 scales with the square of linear size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8346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∝ L²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370332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E3EDD9"/>
          </a:solidFill>
          <a:ln w="12700">
            <a:solidFill>
              <a:srgbClr val="E3ED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51560" y="37033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rate assumed ∝ area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7033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∝ A¹ ∝ L²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2960" y="457200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D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45720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L² ∝ V^z = (L³)^z  ⇒  2 = 3z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5720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2/3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66760" y="1965960"/>
            <a:ext cx="2971800" cy="3337560"/>
          </a:xfrm>
          <a:prstGeom prst="roundRect">
            <a:avLst>
              <a:gd name="adj" fmla="val 3692"/>
            </a:avLst>
          </a:prstGeom>
          <a:solidFill>
            <a:srgbClr val="1B3A1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2/3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33375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first-principles — but data consistently showed the exponent closer to 3/4.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theory good enough to be tested — and the mismatch motivated a better one (next).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to z = 3/4: Resource-Distribution Networks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3258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E3EDD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West, Brown &amp; Enquist (1997)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organisms must: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423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resources from a single source through a branching, fractal-like, space-filling network to all parts of the body.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smallest branch (a capillary) the same size across organisms of all sizes.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energy required to distribute resources — less efficient designs are lost to selection.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Banavar &amp; colleagues (1999, 2002)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0574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Argued the strict fractal-network assumption was neither correct in general nor necessary.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different model with less restrictive assumptions —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still predicted z = 3/4.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37960" y="425196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66560" y="42519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larger the organism, the greater the share of resources in transit at any instant — an increasingly inefficient system.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first principles — the same z = 3/4 prediction. Banavar, Brown &amp; colleagues later extended this to additional predictions (2010).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thermo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Dependence: The Arrhenius Equation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governs how vigorously molecules vibrate and move — metabolism is a network of biochemical reactions, so temperature drives metabolic rate: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240280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2402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B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 = a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 e</a:t>
            </a:r>
            <a:pPr algn="ctr" indent="0" marL="0">
              <a:buNone/>
            </a:pPr>
            <a:r>
              <a:rPr lang="en-US" sz="1500" i="1" baseline="1750" dirty="0">
                <a:solidFill>
                  <a:srgbClr val="FFFFFF"/>
                </a:solidFill>
              </a:rPr>
              <a:t>−Eₐ/kT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Eₐ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average activation energy of rate-limiting enzymes (eV) — Gillooly et al. (2000) estimate Eₐ ≈ 0.23 eV
</a:t>
            </a:r>
            <a:pPr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Boltzmann’s constant (≈ 8.6 × 10⁻⁵ eV K⁻¹)
</a:t>
            </a:r>
            <a:pPr indent="0" marL="0">
              <a:lnSpc>
                <a:spcPts val="2200"/>
              </a:lnSpc>
              <a:buNone/>
            </a:pPr>
            <a:r>
              <a:rPr lang="en-US" sz="1300" b="1" i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absolute temperature (K)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920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1F"/>
                </a:solidFill>
              </a:rPr>
              <a:t>Linearized: </a:t>
            </a:r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</a:rPr>
              <a:t>log B = log a − Eₐ(1/kT)</a:t>
            </a:r>
            <a:pPr indent="0" marL="0">
              <a:buNone/>
            </a:pPr>
            <a:r>
              <a:rPr lang="en-US" sz="1300" dirty="0">
                <a:solidFill>
                  <a:srgbClr val="23301F"/>
                </a:solidFill>
              </a:rPr>
              <a:t> — slope −Eₐ describes the temperature effect.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903720" y="137160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90372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10⁴, Eₐ = 0.23 eV — exponential-like over biologically relevant temperatures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icon_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The Metabolic Theory of Ecology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4173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 = a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</a:rPr>
              <a:t>M</a:t>
            </a:r>
            <a:pPr algn="ctr" indent="0" marL="0">
              <a:buNone/>
            </a:pPr>
            <a:r>
              <a:rPr lang="en-US" sz="1800" i="1" baseline="2000" dirty="0">
                <a:solidFill>
                  <a:srgbClr val="FFFFFF"/>
                </a:solidFill>
              </a:rPr>
              <a:t>3/4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 e</a:t>
            </a:r>
            <a:pPr algn="ctr" indent="0" marL="0">
              <a:buNone/>
            </a:pPr>
            <a:r>
              <a:rPr lang="en-US" sz="1800" i="1" baseline="2000" dirty="0">
                <a:solidFill>
                  <a:srgbClr val="FFFFFF"/>
                </a:solidFill>
              </a:rPr>
              <a:t>−Eₐ/kT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size-dependence  ×  temperature-dependence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a, Eₐ, and z (≈ 3/4) as free parameters — yet it predicts patterns across: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65760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6576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range size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43984" y="365760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43984" y="36576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65008" y="365760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65008" y="36576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size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470916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470916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uptake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43984" y="470916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43984" y="470916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Predation &amp; other interactions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65008" y="470916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65008" y="470916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cycling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first principles (geometry + thermodynamics), few parameters, many predictions — Marquet et al.’s definition of good, efficient theory.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Power-Law Scaling Implies Constant Relative Change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proportional change in mass produces the same proportional change in metabolic rate — regardless of the starting mass.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667512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 rate (B)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change in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change in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" y="4526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100× jump in mass → a 31.6× jump in metabolic rate, every time.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81812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B3A1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4672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proof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6517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Let m₂ = c·m₁, so:
</a:t>
            </a:r>
            <a:pPr indent="0" marL="0">
              <a:buNone/>
            </a:pPr>
            <a:r>
              <a:rPr lang="en-US" sz="1300" i="1" dirty="0">
                <a:solidFill>
                  <a:srgbClr val="E3EDD9"/>
                </a:solidFill>
              </a:rPr>
              <a:t>b₁ = aM₁³ᐟ⁴
</a:t>
            </a:r>
            <a:pPr indent="0" marL="0">
              <a:buNone/>
            </a:pPr>
            <a:r>
              <a:rPr lang="en-US" sz="1300" i="1" dirty="0">
                <a:solidFill>
                  <a:srgbClr val="E3EDD9"/>
                </a:solidFill>
              </a:rPr>
              <a:t>b₂ = a(cM₁)³ᐟ⁴
</a:t>
            </a:r>
            <a:pPr indent="0" marL="0">
              <a:buNone/>
            </a:pPr>
            <a:r>
              <a:rPr lang="en-US" sz="1300" i="1" dirty="0">
                <a:solidFill>
                  <a:srgbClr val="E3EDD9"/>
                </a:solidFill>
              </a:rPr>
              <a:t>     = ac³ᐟ⁴M₁³ᐟ⁴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46720" y="42519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97BC6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04672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B3A1C"/>
                </a:solidFill>
              </a:rPr>
              <a:t>b₂ / b₁ = c</a:t>
            </a:r>
            <a:pPr algn="ctr" indent="0" marL="0">
              <a:buNone/>
            </a:pPr>
            <a:r>
              <a:rPr lang="en-US" sz="1100" b="1" i="1" baseline="1750" dirty="0">
                <a:solidFill>
                  <a:srgbClr val="1B3A1C"/>
                </a:solidFill>
              </a:rPr>
              <a:t>3/4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for any m₁ — the hallmark of power-law scaling.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120640"/>
            <a:ext cx="3108960" cy="3108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6035040"/>
            <a:ext cx="1828800" cy="1828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5720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icon_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46908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METE: the Maximum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Theory of Ecology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ecological patterns look like when very little is going on aside from random noise.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Principle of Maximum Entropy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</a:rPr>
              <a:t>Entropy = disorder. </a:t>
            </a:r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Given constraints on a system, the </a:t>
            </a:r>
            <a:pPr indent="0" marL="0">
              <a:buNone/>
            </a:pPr>
            <a:r>
              <a:rPr lang="en-US" sz="1450" b="1" i="1" dirty="0">
                <a:solidFill>
                  <a:srgbClr val="B85042"/>
                </a:solidFill>
              </a:rPr>
              <a:t>least-biased</a:t>
            </a:r>
            <a:pPr indent="0" marL="0">
              <a:buNone/>
            </a:pPr>
            <a:r>
              <a:rPr lang="en-US" sz="1450" dirty="0">
                <a:solidFill>
                  <a:srgbClr val="23301F"/>
                </a:solidFill>
              </a:rPr>
              <a:t> probability distribution describing the data is the one with maximum entropy — maximum uncertainty subject to what we actually know (Harte 2014).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364992" cy="3337560"/>
          </a:xfrm>
          <a:prstGeom prst="roundRect">
            <a:avLst>
              <a:gd name="adj" fmla="val 3288"/>
            </a:avLst>
          </a:prstGeom>
          <a:solidFill>
            <a:srgbClr val="E3ED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27249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biased, given only: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0175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jar holds between 1 and 1000 jelly beans.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51560" y="4343400"/>
            <a:ext cx="2907792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44348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9377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43984" y="2514600"/>
            <a:ext cx="3364992" cy="3337560"/>
          </a:xfrm>
          <a:prstGeom prst="roundRect">
            <a:avLst>
              <a:gd name="adj" fmla="val 3288"/>
            </a:avLst>
          </a:prstGeom>
          <a:solidFill>
            <a:srgbClr val="E3ED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72584" y="27249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biased, given only: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72584" y="30175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hectare of trees has a mean height of 3 m.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672584" y="4343400"/>
            <a:ext cx="2907792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72584" y="44348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672584" y="49377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65008" y="2514600"/>
            <a:ext cx="3364992" cy="3337560"/>
          </a:xfrm>
          <a:prstGeom prst="roundRect">
            <a:avLst>
              <a:gd name="adj" fmla="val 3288"/>
            </a:avLst>
          </a:prstGeom>
          <a:solidFill>
            <a:srgbClr val="E3ED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93608" y="27249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biased, given only: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93608" y="30175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the variance in height is 2 m.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293608" y="4343400"/>
            <a:ext cx="2907792" cy="1325880"/>
          </a:xfrm>
          <a:prstGeom prst="roundRect">
            <a:avLst>
              <a:gd name="adj" fmla="val 5517"/>
            </a:avLst>
          </a:prstGeom>
          <a:solidFill>
            <a:srgbClr val="2C5F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93608" y="443484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293608" y="49377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(normal) distribution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 applies this logic to ecology: given only how many individuals and species are present, what species-abundance pattern is least biased — i.e., expected from randomness alone?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_d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N = 5 Individuals, S = 3 Species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way to distribute 5 individuals among 3 species (our only constraints: N = 5, S = 3). With so few, we can simply count.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one possible community configuration: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5394960" cy="18288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22960" y="41605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3301F"/>
                </a:solidFill>
              </a:rPr>
              <a:t>Average most-abundant species: </a:t>
            </a:r>
            <a:pPr indent="0" marL="0">
              <a:lnSpc>
                <a:spcPts val="2000"/>
              </a:lnSpc>
              <a:buNone/>
            </a:pPr>
            <a:r>
              <a:rPr lang="en-US" sz="1250" b="1" i="1" dirty="0">
                <a:solidFill>
                  <a:srgbClr val="2C5F2D"/>
                </a:solidFill>
              </a:rPr>
              <a:t>(3+3+3+2+2+2)/6 = 2.5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3301F"/>
                </a:solidFill>
              </a:rPr>
              <a:t>Least-abundant species is always 1 → second-ranked averages 1.5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537960" y="210312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METE’s prediction: knowing only N and S is enough to predict a species-abundance distribution — no biological mechanism required.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7315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Fine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Useful theory helps us think more clearly — and more imaginatively — about how the world works. Good theory is usually </a:t>
            </a:r>
            <a:pPr indent="0" marL="0">
              <a:buNone/>
            </a:pPr>
            <a:r>
              <a:rPr lang="en-US" sz="1500" b="1" i="1" dirty="0">
                <a:solidFill>
                  <a:srgbClr val="97BC62"/>
                </a:solidFill>
              </a:rPr>
              <a:t>efficient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: the greatest number of predictions from the fewest free parameters.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2468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Metabolic Theory of Ecology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8803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geometry + thermodynamics → a single equation predicting home range, growth, resource use, and more.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22860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2468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Entropy Theory of Ecology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8803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statistics (MaxEnt) → species-abundance predictions from just N and S, no mechanism assumed.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pattern you study (or want to). Would a mechanistic model (like MTE) or a MaxEnt-style null model be more revealing first — and why?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Marquet et al. prize few parameters and many predictions. Is that always the right standard for a good ecological theory? What might it undervalue?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own hierarchy-theory “currency” choice (individuals vs. biomass vs. something else) matter most in your work?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OF ECOLOGY  ·  CHAPTER 2: THEORY IN ECOLOGY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Primer of Ecology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Theory in Ecology</dc:title>
  <dc:subject>PptxGenJS Presentation</dc:subject>
  <dc:creator>Hank Stevens</dc:creator>
  <cp:lastModifiedBy>Hank Stevens</cp:lastModifiedBy>
  <cp:revision>1</cp:revision>
  <dcterms:created xsi:type="dcterms:W3CDTF">2026-08-26T10:35:24Z</dcterms:created>
  <dcterms:modified xsi:type="dcterms:W3CDTF">2026-08-26T10:35:24Z</dcterms:modified>
</cp:coreProperties>
</file>